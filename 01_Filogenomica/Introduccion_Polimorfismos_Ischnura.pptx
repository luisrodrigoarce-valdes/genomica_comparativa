
<file path=[Content_Types].xml><?xml version="1.0" encoding="utf-8"?>
<Types xmlns="http://schemas.openxmlformats.org/package/2006/content-types">
  <Default Extension="jpeg" ContentType="image/jpeg"/>
  <Default Extension="jpg" ContentType="image/jpeg"/>
  <Default Extension="org&amp;utm_campaign=index&amp;utm_content=original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319" r:id="rId5"/>
    <p:sldId id="330" r:id="rId6"/>
    <p:sldId id="331" r:id="rId7"/>
    <p:sldId id="376" r:id="rId8"/>
    <p:sldId id="332" r:id="rId9"/>
    <p:sldId id="377" r:id="rId10"/>
    <p:sldId id="378" r:id="rId11"/>
    <p:sldId id="37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CFED4"/>
    <a:srgbClr val="FFCC66"/>
    <a:srgbClr val="FCF4E7"/>
    <a:srgbClr val="D9C65D"/>
    <a:srgbClr val="D9843E"/>
    <a:srgbClr val="15B7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27" autoAdjust="0"/>
    <p:restoredTop sz="94660"/>
  </p:normalViewPr>
  <p:slideViewPr>
    <p:cSldViewPr snapToGrid="0">
      <p:cViewPr varScale="1">
        <p:scale>
          <a:sx n="78" d="100"/>
          <a:sy n="78" d="100"/>
        </p:scale>
        <p:origin x="9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2DEFAE-BEAB-4531-A28D-84E1F8E9CAA2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7549C5-C72B-4131-842F-1EBF28009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543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7549C5-C72B-4131-842F-1EBF28009D8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842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7D6E4-98EF-976B-052E-3A5B3F3BB7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73F9FF-3460-642C-AE45-890574D7C7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82F3B0-4487-8D63-FF61-9E4497881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BA742-288F-44C7-B980-18CE0297785D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D60B9-6190-46AC-393A-5D298F06E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3FF50-A8DB-A454-2DAC-5761B5155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EDCB8-551F-4CE3-A768-BC4753789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840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097DA-DCFB-661C-08B6-012EA9EED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B9F6E-F91D-C6E7-6283-DBA2DB63F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4E5CA-2A30-16D8-66E8-2EBDCE426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BA742-288F-44C7-B980-18CE0297785D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511D9-E52B-773A-6858-78F4C1D52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C739D-E0A5-F765-58FA-472979853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EDCB8-551F-4CE3-A768-BC4753789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052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1411E-0AC1-358A-9337-1E1CB5A1C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8E83FF-E379-4AF2-11C9-B97522E84C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4BE773-CA7D-D6D9-BF37-AE4B42767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BA742-288F-44C7-B980-18CE0297785D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B058C-FE64-539B-D6FB-591246CB6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E1113-D291-BEA9-FBF2-6BA835FCB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EDCB8-551F-4CE3-A768-BC4753789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636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6F8F7-0BBD-B95C-E5CE-128F83C4E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00275-E440-BF3E-23B6-96A4D73B66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FEB2F6-D856-71A2-F0A0-6402FB1299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16A6C2-89D8-AFF7-6E39-1ED0CE21C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BA742-288F-44C7-B980-18CE0297785D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EC4BBF-0F34-498C-E87C-DA628D27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0FD8A5-BDE2-51DF-8E83-5A5F97088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EDCB8-551F-4CE3-A768-BC4753789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288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F6703-0ADC-0BC6-FC7C-A0B2C8604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24AAB1-8AD5-792A-7AFE-CBE31EB388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C498F5-5BF5-E834-CAB4-FFAEB614D5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2D6FEF-91F0-C986-5C16-ECB64EC8BE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53E45E-B223-DACF-BF34-390C4987E1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EA4237-FD05-7085-F3FC-6AABAAC01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BA742-288F-44C7-B980-18CE0297785D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07D569-C294-4E67-E30C-03C1038C9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E22C0E-516D-52A0-235C-D63AC4838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EDCB8-551F-4CE3-A768-BC4753789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304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F77B5-7A53-FED6-E87C-CD5FA98B1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1973A8-89BC-498B-BB90-05EDF03F1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BA742-288F-44C7-B980-18CE0297785D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D03B18-A096-F6FF-E3C4-678857374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CE1BA0-CE9C-E558-7807-739F0C857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EDCB8-551F-4CE3-A768-BC4753789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24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CB4DE6-E831-EA4F-CF73-90CE7113A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BA742-288F-44C7-B980-18CE0297785D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F0A55-5F30-6C85-FD4A-9D0B1B7C9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BBEDD4-97C6-F1B1-18D8-65385EC13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EDCB8-551F-4CE3-A768-BC4753789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48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14735-5B23-264D-CFFE-04511C890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053E2-148D-8910-8140-16D58F9D7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22248D-ABEF-3464-58B5-9C74A78A48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AEABE5-275A-9F9F-DBBA-5C5D7E082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BA742-288F-44C7-B980-18CE0297785D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20DCB0-68EB-7C26-B004-297EE6DCA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B6606F-705C-2352-591C-E8769E9EE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EDCB8-551F-4CE3-A768-BC4753789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020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29AB5-07B7-E77C-7763-396256DC4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7F61F1-8B12-3E87-34E6-374E7A063A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4B1E6D-2EB3-7122-9A79-83757893F4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238C56-C44E-198A-CEB7-4F9EE36AC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BA742-288F-44C7-B980-18CE0297785D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4A108F-1C19-15A8-A759-BDDA5659B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CCDE42-47E9-23EB-DCED-50EB3D6E7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EDCB8-551F-4CE3-A768-BC4753789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034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36052-A023-AAD4-630D-698BD3885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C6F75E-7A89-60D7-5544-1F076B7E4B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960EDD-C3E1-6F68-7D50-BD2E6E3E0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BA742-288F-44C7-B980-18CE0297785D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968BA8-ABB1-D5B5-91BB-A643105AE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3C1D0C-6391-AC09-0259-DC749FA4C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EDCB8-551F-4CE3-A768-BC4753789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546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5C9099-D15A-6B70-52DC-B068C6DF4A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7C2A73-D7C2-0FEA-7649-DF0EC46001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A0EDF-357C-C4FA-F2EE-1DC3E6A33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BA742-288F-44C7-B980-18CE0297785D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E6AC4-75B7-6CA3-BC68-659450E1D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0A189-FF55-DE11-14D6-592244823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EDCB8-551F-4CE3-A768-BC4753789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707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257E48-9D6B-4A06-DC31-583353357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A03F58-263C-5BF3-6A73-8A09D1BD5F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D6779-26FA-FC99-79DF-6EC96409A2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7BA742-288F-44C7-B980-18CE0297785D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3610B-A828-7968-90C6-32DB8539EC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5554E-646A-91D2-91B4-C16BE070F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7EDCB8-551F-4CE3-A768-BC4753789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603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org&amp;utm_campaign=index&amp;utm_content=origi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jpe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ABAAF4-5F6B-AB4A-7597-8CC60B96D9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9273" y="2620912"/>
            <a:ext cx="10579510" cy="1017638"/>
          </a:xfrm>
        </p:spPr>
        <p:txBody>
          <a:bodyPr>
            <a:noAutofit/>
          </a:bodyPr>
          <a:lstStyle/>
          <a:p>
            <a:pPr algn="r"/>
            <a:r>
              <a:rPr lang="es-MX" sz="4000" noProof="0" dirty="0"/>
              <a:t>La historia evolutiva de los polimorfismos de color femeninos en caballitos del género </a:t>
            </a:r>
            <a:r>
              <a:rPr lang="es-MX" sz="4000" i="1" noProof="0" dirty="0" err="1"/>
              <a:t>Ischnura</a:t>
            </a:r>
            <a:r>
              <a:rPr lang="es-MX" sz="4000" noProof="0" dirty="0"/>
              <a:t> .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8CEA84D-3E15-9F73-4DE5-A1686512E4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4933" y="4194453"/>
            <a:ext cx="10583850" cy="2320327"/>
          </a:xfrm>
        </p:spPr>
        <p:txBody>
          <a:bodyPr numCol="1">
            <a:normAutofit/>
          </a:bodyPr>
          <a:lstStyle/>
          <a:p>
            <a:pPr algn="r"/>
            <a:r>
              <a:rPr lang="es-MX" sz="24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Genómica comparativa</a:t>
            </a:r>
          </a:p>
          <a:p>
            <a:pPr algn="r"/>
            <a:r>
              <a:rPr lang="es-MX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Práctica - </a:t>
            </a:r>
            <a:r>
              <a:rPr lang="es-MX" noProof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Filogenómica</a:t>
            </a:r>
            <a:endParaRPr lang="es-MX" sz="2400" noProof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r"/>
            <a:r>
              <a:rPr lang="es-MX" sz="20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Luis Rodrigo Arce Valdés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D8E73B78-421B-F712-3B5D-A92DFF3F1DB1}"/>
              </a:ext>
            </a:extLst>
          </p:cNvPr>
          <p:cNvCxnSpPr>
            <a:cxnSpLocks/>
          </p:cNvCxnSpPr>
          <p:nvPr/>
        </p:nvCxnSpPr>
        <p:spPr>
          <a:xfrm>
            <a:off x="1099273" y="2154741"/>
            <a:ext cx="1058385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7">
            <a:extLst>
              <a:ext uri="{FF2B5EF4-FFF2-40B4-BE49-F238E27FC236}">
                <a16:creationId xmlns:a16="http://schemas.microsoft.com/office/drawing/2014/main" id="{CBBDEB98-70EE-4773-F8C0-F1E66881BA98}"/>
              </a:ext>
            </a:extLst>
          </p:cNvPr>
          <p:cNvCxnSpPr>
            <a:cxnSpLocks/>
          </p:cNvCxnSpPr>
          <p:nvPr/>
        </p:nvCxnSpPr>
        <p:spPr>
          <a:xfrm>
            <a:off x="1099273" y="3944210"/>
            <a:ext cx="1058385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Candidate genes associated with color morphs of female-limited polymorphisms  of the damselfly Ischnura senegalensis | Heredity">
            <a:extLst>
              <a:ext uri="{FF2B5EF4-FFF2-40B4-BE49-F238E27FC236}">
                <a16:creationId xmlns:a16="http://schemas.microsoft.com/office/drawing/2014/main" id="{E13DC307-3AF3-8FFB-1305-8168A79C1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933" y="4249871"/>
            <a:ext cx="2697536" cy="2410061"/>
          </a:xfrm>
          <a:prstGeom prst="rect">
            <a:avLst/>
          </a:prstGeom>
        </p:spPr>
      </p:pic>
      <p:pic>
        <p:nvPicPr>
          <p:cNvPr id="10" name="Picture 9" descr="Escuela Nacional de Estudios Superiores Unidad León - Wikipedia, la  enciclopedia libre">
            <a:extLst>
              <a:ext uri="{FF2B5EF4-FFF2-40B4-BE49-F238E27FC236}">
                <a16:creationId xmlns:a16="http://schemas.microsoft.com/office/drawing/2014/main" id="{45C2DBDF-F25B-8185-0EE5-122D75DDB8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9423" y="-30590"/>
            <a:ext cx="3779360" cy="2136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342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FBADD-EBA2-5ECA-5247-70F69800D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59AF5-50CB-8AC9-B1F3-ADED0FBCF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37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s-MX" noProof="0" dirty="0"/>
              <a:t>El estudio de los polimorfismos de color ha sido un fenómeno clave para el desarrollo de la teoría evolutiva</a:t>
            </a:r>
          </a:p>
        </p:txBody>
      </p:sp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05CE8402-15BD-1578-91F4-7B4A12A67C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153" y="2572714"/>
            <a:ext cx="5174691" cy="3072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undefined">
            <a:extLst>
              <a:ext uri="{FF2B5EF4-FFF2-40B4-BE49-F238E27FC236}">
                <a16:creationId xmlns:a16="http://schemas.microsoft.com/office/drawing/2014/main" id="{743AB834-BE83-42B0-010D-8B58AF5304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8" r="3442"/>
          <a:stretch>
            <a:fillRect/>
          </a:stretch>
        </p:blipFill>
        <p:spPr bwMode="auto">
          <a:xfrm>
            <a:off x="5974080" y="2569262"/>
            <a:ext cx="5925312" cy="3075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14FD46-4C7E-6DFF-4168-075EE26F93D8}"/>
              </a:ext>
            </a:extLst>
          </p:cNvPr>
          <p:cNvSpPr txBox="1"/>
          <p:nvPr/>
        </p:nvSpPr>
        <p:spPr>
          <a:xfrm>
            <a:off x="3159303" y="5764806"/>
            <a:ext cx="56295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i="1" noProof="0" dirty="0"/>
              <a:t>Biston </a:t>
            </a:r>
            <a:r>
              <a:rPr lang="es-MX" i="1" noProof="0" dirty="0" err="1"/>
              <a:t>betularia</a:t>
            </a:r>
            <a:r>
              <a:rPr lang="es-MX" i="1" noProof="0" dirty="0"/>
              <a:t> </a:t>
            </a:r>
            <a:r>
              <a:rPr lang="es-MX" noProof="0" dirty="0"/>
              <a:t>(</a:t>
            </a:r>
            <a:r>
              <a:rPr lang="es-MX" noProof="0" dirty="0" err="1"/>
              <a:t>Lepidoptera</a:t>
            </a:r>
            <a:r>
              <a:rPr lang="es-MX" noProof="0" dirty="0"/>
              <a:t>: </a:t>
            </a:r>
            <a:r>
              <a:rPr lang="es-MX" noProof="0" dirty="0" err="1"/>
              <a:t>Geometridae</a:t>
            </a:r>
            <a:r>
              <a:rPr lang="es-MX" noProof="0" dirty="0"/>
              <a:t>):</a:t>
            </a:r>
          </a:p>
          <a:p>
            <a:pPr algn="ctr"/>
            <a:r>
              <a:rPr lang="es-MX" noProof="0" dirty="0"/>
              <a:t>Selección natural en respuesta a cambios ambientales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745376-6409-B6D4-E89C-CDC20F30EAA5}"/>
              </a:ext>
            </a:extLst>
          </p:cNvPr>
          <p:cNvSpPr txBox="1"/>
          <p:nvPr/>
        </p:nvSpPr>
        <p:spPr>
          <a:xfrm>
            <a:off x="172066" y="6411137"/>
            <a:ext cx="13740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Majerus 2010</a:t>
            </a:r>
          </a:p>
        </p:txBody>
      </p:sp>
    </p:spTree>
    <p:extLst>
      <p:ext uri="{BB962C8B-B14F-4D97-AF65-F5344CB8AC3E}">
        <p14:creationId xmlns:p14="http://schemas.microsoft.com/office/powerpoint/2010/main" val="41074106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2781D-D422-9050-6C23-E203A9E67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igure 1. ">
            <a:extLst>
              <a:ext uri="{FF2B5EF4-FFF2-40B4-BE49-F238E27FC236}">
                <a16:creationId xmlns:a16="http://schemas.microsoft.com/office/drawing/2014/main" id="{4EBC09BC-104E-F452-753E-CD70FC663A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" t="50000" r="50929"/>
          <a:stretch>
            <a:fillRect/>
          </a:stretch>
        </p:blipFill>
        <p:spPr bwMode="auto">
          <a:xfrm>
            <a:off x="838200" y="2477498"/>
            <a:ext cx="4650658" cy="3248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Figure 1. ">
            <a:extLst>
              <a:ext uri="{FF2B5EF4-FFF2-40B4-BE49-F238E27FC236}">
                <a16:creationId xmlns:a16="http://schemas.microsoft.com/office/drawing/2014/main" id="{E805EF80-0666-C618-982B-7E4A03C221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" r="50929" b="50000"/>
          <a:stretch>
            <a:fillRect/>
          </a:stretch>
        </p:blipFill>
        <p:spPr bwMode="auto">
          <a:xfrm>
            <a:off x="6096000" y="2477498"/>
            <a:ext cx="4650658" cy="3248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03F5D56-2A7B-5887-BF73-CFE576B4C256}"/>
              </a:ext>
            </a:extLst>
          </p:cNvPr>
          <p:cNvSpPr txBox="1"/>
          <p:nvPr/>
        </p:nvSpPr>
        <p:spPr>
          <a:xfrm>
            <a:off x="3132958" y="5862451"/>
            <a:ext cx="54856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i="1" noProof="0" dirty="0" err="1"/>
              <a:t>Poecilia</a:t>
            </a:r>
            <a:r>
              <a:rPr lang="es-MX" i="1" noProof="0" dirty="0"/>
              <a:t> </a:t>
            </a:r>
            <a:r>
              <a:rPr lang="es-MX" i="1" noProof="0" dirty="0" err="1"/>
              <a:t>reticulata</a:t>
            </a:r>
            <a:r>
              <a:rPr lang="es-MX" i="1" noProof="0" dirty="0"/>
              <a:t> </a:t>
            </a:r>
            <a:r>
              <a:rPr lang="es-MX" noProof="0" dirty="0"/>
              <a:t>(</a:t>
            </a:r>
            <a:r>
              <a:rPr lang="es-MX" noProof="0" dirty="0" err="1"/>
              <a:t>Cyprinodontiformes:Poeciliidae</a:t>
            </a:r>
            <a:r>
              <a:rPr lang="es-MX" noProof="0" dirty="0"/>
              <a:t>):</a:t>
            </a:r>
          </a:p>
          <a:p>
            <a:pPr algn="ctr"/>
            <a:r>
              <a:rPr lang="es-MX" noProof="0" dirty="0"/>
              <a:t>Balance entre selección natural y selección sexual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5C255E-D3DD-84E7-2E22-C62F0D9626C2}"/>
              </a:ext>
            </a:extLst>
          </p:cNvPr>
          <p:cNvSpPr txBox="1"/>
          <p:nvPr/>
        </p:nvSpPr>
        <p:spPr>
          <a:xfrm>
            <a:off x="172066" y="6411137"/>
            <a:ext cx="16508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Kemp et al. 2023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47C4EC5-E6BF-D761-A43E-A8DE588FD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37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s-MX" noProof="0" dirty="0"/>
              <a:t>El estudio de los polimorfismos de color ha sido un fenómeno clave para el desarrollo de la teoría evolutiva</a:t>
            </a:r>
          </a:p>
        </p:txBody>
      </p:sp>
    </p:spTree>
    <p:extLst>
      <p:ext uri="{BB962C8B-B14F-4D97-AF65-F5344CB8AC3E}">
        <p14:creationId xmlns:p14="http://schemas.microsoft.com/office/powerpoint/2010/main" val="8894413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D4400-EDE2-69A4-946B-49C074ADB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noProof="0" dirty="0"/>
              <a:t>Los polimorfismos de color femeninos en </a:t>
            </a:r>
            <a:r>
              <a:rPr lang="es-MX" i="1" noProof="0" dirty="0" err="1"/>
              <a:t>Ischnura</a:t>
            </a:r>
            <a:r>
              <a:rPr lang="es-MX" i="1" noProof="0" dirty="0"/>
              <a:t> </a:t>
            </a:r>
            <a:r>
              <a:rPr lang="es-MX" noProof="0" dirty="0"/>
              <a:t>han evolucionado en respuesta al acoso masculino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FD2DAF-2444-6E8F-3B27-B52E0456C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213" y="1939746"/>
            <a:ext cx="6356986" cy="45474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DD3DC1-AE76-E784-219F-3BAAFF7A12A4}"/>
              </a:ext>
            </a:extLst>
          </p:cNvPr>
          <p:cNvSpPr txBox="1"/>
          <p:nvPr/>
        </p:nvSpPr>
        <p:spPr>
          <a:xfrm>
            <a:off x="160985" y="6487165"/>
            <a:ext cx="54305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Willink et al. 2024; Gosden &amp; Svensson 2009; Cordero 1989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553E6D-7B5F-C020-E40C-758CFA7534C1}"/>
              </a:ext>
            </a:extLst>
          </p:cNvPr>
          <p:cNvSpPr/>
          <p:nvPr/>
        </p:nvSpPr>
        <p:spPr>
          <a:xfrm>
            <a:off x="4886631" y="3588773"/>
            <a:ext cx="2015613" cy="11307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673EF8-E7C6-9DDE-1CB6-D023BA60819C}"/>
              </a:ext>
            </a:extLst>
          </p:cNvPr>
          <p:cNvSpPr/>
          <p:nvPr/>
        </p:nvSpPr>
        <p:spPr>
          <a:xfrm>
            <a:off x="3141405" y="5280426"/>
            <a:ext cx="2015613" cy="11307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D48FEE8-079A-D79E-8B4B-97B944002219}"/>
              </a:ext>
            </a:extLst>
          </p:cNvPr>
          <p:cNvGrpSpPr/>
          <p:nvPr/>
        </p:nvGrpSpPr>
        <p:grpSpPr>
          <a:xfrm>
            <a:off x="7782242" y="5280426"/>
            <a:ext cx="1539909" cy="1052054"/>
            <a:chOff x="7238665" y="5140144"/>
            <a:chExt cx="1539909" cy="1052054"/>
          </a:xfrm>
        </p:grpSpPr>
        <p:pic>
          <p:nvPicPr>
            <p:cNvPr id="2052" name="Picture 4" descr="Ischnura elegans">
              <a:extLst>
                <a:ext uri="{FF2B5EF4-FFF2-40B4-BE49-F238E27FC236}">
                  <a16:creationId xmlns:a16="http://schemas.microsoft.com/office/drawing/2014/main" id="{46EFCF5B-E2C6-E4DB-C801-B6E47806F0B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0884"/>
            <a:stretch>
              <a:fillRect/>
            </a:stretch>
          </p:blipFill>
          <p:spPr bwMode="auto">
            <a:xfrm>
              <a:off x="7238665" y="5140144"/>
              <a:ext cx="1445342" cy="5653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0378E9A-E753-2FA5-EC5D-0540343C7D9B}"/>
                </a:ext>
              </a:extLst>
            </p:cNvPr>
            <p:cNvSpPr txBox="1"/>
            <p:nvPr/>
          </p:nvSpPr>
          <p:spPr>
            <a:xfrm>
              <a:off x="7238665" y="5822866"/>
              <a:ext cx="15399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noProof="0" dirty="0"/>
                <a:t>♀ Andromorfa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3B8EB31-8FFB-8C4D-CDF1-66AB0BEEC4DF}"/>
              </a:ext>
            </a:extLst>
          </p:cNvPr>
          <p:cNvGrpSpPr/>
          <p:nvPr/>
        </p:nvGrpSpPr>
        <p:grpSpPr>
          <a:xfrm>
            <a:off x="7736914" y="2863644"/>
            <a:ext cx="1535998" cy="1130712"/>
            <a:chOff x="9549634" y="5061486"/>
            <a:chExt cx="1535998" cy="1130712"/>
          </a:xfrm>
        </p:grpSpPr>
        <p:pic>
          <p:nvPicPr>
            <p:cNvPr id="9" name="Picture 4" descr="Ischnura elegans">
              <a:extLst>
                <a:ext uri="{FF2B5EF4-FFF2-40B4-BE49-F238E27FC236}">
                  <a16:creationId xmlns:a16="http://schemas.microsoft.com/office/drawing/2014/main" id="{646E0D52-5590-3A7A-3625-E026539BD06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0884"/>
            <a:stretch>
              <a:fillRect/>
            </a:stretch>
          </p:blipFill>
          <p:spPr bwMode="auto">
            <a:xfrm>
              <a:off x="9640290" y="5061486"/>
              <a:ext cx="1445342" cy="5653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D6A4154-9E50-19C8-C11C-E3FF09930563}"/>
                </a:ext>
              </a:extLst>
            </p:cNvPr>
            <p:cNvSpPr txBox="1"/>
            <p:nvPr/>
          </p:nvSpPr>
          <p:spPr>
            <a:xfrm>
              <a:off x="9549634" y="5822866"/>
              <a:ext cx="14180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noProof="0" dirty="0"/>
                <a:t>♀ </a:t>
              </a:r>
              <a:r>
                <a:rPr lang="es-MX" noProof="0" dirty="0" err="1"/>
                <a:t>Ginomorfa</a:t>
              </a:r>
              <a:endParaRPr lang="es-MX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BFF98EC-74E3-6794-B30D-05715CEAF665}"/>
              </a:ext>
            </a:extLst>
          </p:cNvPr>
          <p:cNvGrpSpPr/>
          <p:nvPr/>
        </p:nvGrpSpPr>
        <p:grpSpPr>
          <a:xfrm>
            <a:off x="9699226" y="1922057"/>
            <a:ext cx="1654574" cy="3252254"/>
            <a:chOff x="9618507" y="1925071"/>
            <a:chExt cx="1654574" cy="3252254"/>
          </a:xfrm>
        </p:grpSpPr>
        <p:pic>
          <p:nvPicPr>
            <p:cNvPr id="12" name="Picture 4" descr="Ischnura elegans">
              <a:extLst>
                <a:ext uri="{FF2B5EF4-FFF2-40B4-BE49-F238E27FC236}">
                  <a16:creationId xmlns:a16="http://schemas.microsoft.com/office/drawing/2014/main" id="{2F7920BA-72FC-739D-C7D5-4D14F7F5270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0884"/>
            <a:stretch>
              <a:fillRect/>
            </a:stretch>
          </p:blipFill>
          <p:spPr bwMode="auto">
            <a:xfrm rot="20065436" flipH="1">
              <a:off x="9618507" y="1925071"/>
              <a:ext cx="1445342" cy="5653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4" descr="Ischnura elegans">
              <a:extLst>
                <a:ext uri="{FF2B5EF4-FFF2-40B4-BE49-F238E27FC236}">
                  <a16:creationId xmlns:a16="http://schemas.microsoft.com/office/drawing/2014/main" id="{1EED1AA9-38AF-57E6-1870-50CA03545E7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0884"/>
            <a:stretch>
              <a:fillRect/>
            </a:stretch>
          </p:blipFill>
          <p:spPr bwMode="auto">
            <a:xfrm rot="1772499" flipH="1">
              <a:off x="9782312" y="3989040"/>
              <a:ext cx="1445342" cy="5653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4" descr="Ischnura elegans">
              <a:extLst>
                <a:ext uri="{FF2B5EF4-FFF2-40B4-BE49-F238E27FC236}">
                  <a16:creationId xmlns:a16="http://schemas.microsoft.com/office/drawing/2014/main" id="{D9B408F1-3B5C-AC92-4BC9-F681228CE7D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0884"/>
            <a:stretch>
              <a:fillRect/>
            </a:stretch>
          </p:blipFill>
          <p:spPr bwMode="auto">
            <a:xfrm flipH="1">
              <a:off x="9827739" y="2871771"/>
              <a:ext cx="1445342" cy="5653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985CAC8-A48B-7F3C-0D31-0E2DCC3F69B1}"/>
                </a:ext>
              </a:extLst>
            </p:cNvPr>
            <p:cNvSpPr txBox="1"/>
            <p:nvPr/>
          </p:nvSpPr>
          <p:spPr>
            <a:xfrm>
              <a:off x="10093234" y="4807993"/>
              <a:ext cx="4571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noProof="0" dirty="0"/>
                <a:t>♂s</a:t>
              </a:r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4CC0FA88-5BF2-5B2A-C216-E93E6DF11B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608543">
            <a:off x="9405959" y="5477508"/>
            <a:ext cx="1554480" cy="1161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580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4EBAD-8C61-FE72-7A9B-F58E3874F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noProof="0" dirty="0"/>
              <a:t>El género </a:t>
            </a:r>
            <a:r>
              <a:rPr lang="es-MX" i="1" noProof="0" dirty="0" err="1"/>
              <a:t>Ischnura</a:t>
            </a:r>
            <a:r>
              <a:rPr lang="es-MX" i="1" noProof="0" dirty="0"/>
              <a:t> </a:t>
            </a:r>
            <a:r>
              <a:rPr lang="es-MX" noProof="0" dirty="0"/>
              <a:t>incluye especies monomórficas, </a:t>
            </a:r>
            <a:r>
              <a:rPr lang="es-MX" noProof="0" dirty="0" err="1"/>
              <a:t>dimórficas</a:t>
            </a:r>
            <a:r>
              <a:rPr lang="es-MX" noProof="0" dirty="0"/>
              <a:t> y </a:t>
            </a:r>
            <a:r>
              <a:rPr lang="es-MX" noProof="0" dirty="0" err="1"/>
              <a:t>trimórficas</a:t>
            </a:r>
            <a:r>
              <a:rPr lang="es-MX" i="1" noProof="0" dirty="0"/>
              <a:t> </a:t>
            </a:r>
            <a:endParaRPr lang="es-MX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8B4F19-0443-C93A-A0DF-49B934EC9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00517"/>
            <a:ext cx="6759640" cy="43825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C677FD-EC1B-6EEE-3C8C-0E72246A35DA}"/>
              </a:ext>
            </a:extLst>
          </p:cNvPr>
          <p:cNvSpPr txBox="1"/>
          <p:nvPr/>
        </p:nvSpPr>
        <p:spPr>
          <a:xfrm>
            <a:off x="160985" y="6492875"/>
            <a:ext cx="26023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Sánchez-Guillén et al. 2020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496959-5F05-42B9-85DD-786C7681A7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313" t="30370" r="39753" b="20318"/>
          <a:stretch>
            <a:fillRect/>
          </a:stretch>
        </p:blipFill>
        <p:spPr>
          <a:xfrm>
            <a:off x="8160773" y="2022090"/>
            <a:ext cx="3263743" cy="4139381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31C40FF-3106-9E64-1814-BDC3F7E08119}"/>
              </a:ext>
            </a:extLst>
          </p:cNvPr>
          <p:cNvCxnSpPr/>
          <p:nvPr/>
        </p:nvCxnSpPr>
        <p:spPr>
          <a:xfrm>
            <a:off x="914400" y="5220929"/>
            <a:ext cx="51816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57923957-5BD9-B1CF-F7A1-F21296B17E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8634976" y="1030987"/>
            <a:ext cx="2232285" cy="33467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C0049A-4433-AB24-104F-37A43617F56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7489"/>
          <a:stretch>
            <a:fillRect/>
          </a:stretch>
        </p:blipFill>
        <p:spPr>
          <a:xfrm>
            <a:off x="8077723" y="3986227"/>
            <a:ext cx="3346793" cy="2705422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82CB3D6-828D-523A-F1B0-208201BEBB04}"/>
              </a:ext>
            </a:extLst>
          </p:cNvPr>
          <p:cNvCxnSpPr/>
          <p:nvPr/>
        </p:nvCxnSpPr>
        <p:spPr>
          <a:xfrm>
            <a:off x="914400" y="5746954"/>
            <a:ext cx="51816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The three female morphs of Ischnura elegans. Morph is controlled by a... |  Download Scientific Diagram">
            <a:extLst>
              <a:ext uri="{FF2B5EF4-FFF2-40B4-BE49-F238E27FC236}">
                <a16:creationId xmlns:a16="http://schemas.microsoft.com/office/drawing/2014/main" id="{1285ED49-6964-1169-ED3F-E581556211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9271" y="1588241"/>
            <a:ext cx="2983694" cy="5184058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BDBB566-B64C-3D3B-227C-AE527F69ADC6}"/>
              </a:ext>
            </a:extLst>
          </p:cNvPr>
          <p:cNvCxnSpPr>
            <a:cxnSpLocks/>
          </p:cNvCxnSpPr>
          <p:nvPr/>
        </p:nvCxnSpPr>
        <p:spPr>
          <a:xfrm>
            <a:off x="919318" y="3515032"/>
            <a:ext cx="528483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1600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C6A893F-F73A-6301-6376-1D91785DD42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noProof="0" dirty="0"/>
              <a:t>¿Cuál ha sido la historia evolutiva de los polimorfismos de color en </a:t>
            </a:r>
            <a:r>
              <a:rPr lang="es-MX" i="1" noProof="0" dirty="0" err="1"/>
              <a:t>Ischnura</a:t>
            </a:r>
            <a:r>
              <a:rPr lang="es-MX" noProof="0" dirty="0"/>
              <a:t>?</a:t>
            </a:r>
          </a:p>
        </p:txBody>
      </p:sp>
      <p:pic>
        <p:nvPicPr>
          <p:cNvPr id="4" name="Picture 3" descr="Phylogenetic - Free education icons">
            <a:extLst>
              <a:ext uri="{FF2B5EF4-FFF2-40B4-BE49-F238E27FC236}">
                <a16:creationId xmlns:a16="http://schemas.microsoft.com/office/drawing/2014/main" id="{5357B8F1-7229-AD32-457D-C97FFB51B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503" y="1897165"/>
            <a:ext cx="4385647" cy="4385647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C3374D6-42A5-F123-49C9-7696DB28B32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MX" noProof="0" dirty="0"/>
              <a:t>Reconstruir la diversificación del género </a:t>
            </a:r>
            <a:r>
              <a:rPr lang="es-MX" i="1" noProof="0" dirty="0" err="1"/>
              <a:t>Ischnura</a:t>
            </a:r>
            <a:r>
              <a:rPr lang="es-MX" i="1" noProof="0" dirty="0"/>
              <a:t> </a:t>
            </a:r>
            <a:r>
              <a:rPr lang="es-MX" noProof="0" dirty="0"/>
              <a:t>mediante análisis filogenéticos.</a:t>
            </a:r>
          </a:p>
          <a:p>
            <a:r>
              <a:rPr lang="es-MX" dirty="0">
                <a:solidFill>
                  <a:schemeClr val="bg1"/>
                </a:solidFill>
              </a:rPr>
              <a:t>Inferir si los estados de los polimorfismos de color representan </a:t>
            </a:r>
            <a:r>
              <a:rPr lang="es-MX" dirty="0" err="1">
                <a:solidFill>
                  <a:schemeClr val="bg1"/>
                </a:solidFill>
              </a:rPr>
              <a:t>sinapomorfías</a:t>
            </a:r>
            <a:r>
              <a:rPr lang="es-MX" dirty="0">
                <a:solidFill>
                  <a:schemeClr val="bg1"/>
                </a:solidFill>
              </a:rPr>
              <a:t> en </a:t>
            </a:r>
            <a:r>
              <a:rPr lang="es-MX" dirty="0" err="1">
                <a:solidFill>
                  <a:schemeClr val="bg1"/>
                </a:solidFill>
              </a:rPr>
              <a:t>clados</a:t>
            </a:r>
            <a:r>
              <a:rPr lang="es-MX" dirty="0">
                <a:solidFill>
                  <a:schemeClr val="bg1"/>
                </a:solidFill>
              </a:rPr>
              <a:t> del género </a:t>
            </a:r>
            <a:r>
              <a:rPr lang="es-MX" i="1" dirty="0" err="1">
                <a:solidFill>
                  <a:schemeClr val="bg1"/>
                </a:solidFill>
              </a:rPr>
              <a:t>Ischnura</a:t>
            </a:r>
            <a:r>
              <a:rPr lang="es-MX" i="1" dirty="0">
                <a:solidFill>
                  <a:schemeClr val="bg1"/>
                </a:solidFill>
              </a:rPr>
              <a:t> </a:t>
            </a:r>
            <a:r>
              <a:rPr lang="es-MX" dirty="0">
                <a:solidFill>
                  <a:schemeClr val="bg1"/>
                </a:solidFill>
              </a:rPr>
              <a:t>o eventos evolutivos independientes (</a:t>
            </a:r>
            <a:r>
              <a:rPr lang="es-MX" dirty="0" err="1">
                <a:solidFill>
                  <a:schemeClr val="bg1"/>
                </a:solidFill>
              </a:rPr>
              <a:t>homoplasias</a:t>
            </a:r>
            <a:r>
              <a:rPr lang="es-MX" dirty="0">
                <a:solidFill>
                  <a:schemeClr val="bg1"/>
                </a:solidFill>
              </a:rPr>
              <a:t>).</a:t>
            </a:r>
          </a:p>
          <a:p>
            <a:r>
              <a:rPr lang="es-MX" noProof="0" dirty="0">
                <a:solidFill>
                  <a:schemeClr val="bg1"/>
                </a:solidFill>
              </a:rPr>
              <a:t>Inferir el estado de los polimorfismos de color en el ancestro común del género.</a:t>
            </a:r>
          </a:p>
        </p:txBody>
      </p:sp>
    </p:spTree>
    <p:extLst>
      <p:ext uri="{BB962C8B-B14F-4D97-AF65-F5344CB8AC3E}">
        <p14:creationId xmlns:p14="http://schemas.microsoft.com/office/powerpoint/2010/main" val="30374118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7600B-6ABF-1CE8-1DDF-0FFE4B4D3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FB17B37-6449-2B60-BAC7-90437C725D7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noProof="0" dirty="0"/>
              <a:t>¿Cuál ha sido la historia evolutiva de los polimorfismos de color en </a:t>
            </a:r>
            <a:r>
              <a:rPr lang="es-MX" i="1" noProof="0" dirty="0" err="1"/>
              <a:t>Ischnura</a:t>
            </a:r>
            <a:r>
              <a:rPr lang="es-MX" noProof="0" dirty="0"/>
              <a:t>?</a:t>
            </a:r>
          </a:p>
        </p:txBody>
      </p:sp>
      <p:pic>
        <p:nvPicPr>
          <p:cNvPr id="4" name="Picture 3" descr="Phylogenetic - Free education icons">
            <a:extLst>
              <a:ext uri="{FF2B5EF4-FFF2-40B4-BE49-F238E27FC236}">
                <a16:creationId xmlns:a16="http://schemas.microsoft.com/office/drawing/2014/main" id="{358D6423-03E7-A8B6-FDD8-868229775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503" y="1897165"/>
            <a:ext cx="4385647" cy="4385647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981B24D-C308-2E7A-2AF7-CBA63B396A5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MX" noProof="0" dirty="0">
                <a:solidFill>
                  <a:schemeClr val="bg1">
                    <a:lumMod val="50000"/>
                  </a:schemeClr>
                </a:solidFill>
              </a:rPr>
              <a:t>Reconstruir la diversificación del género </a:t>
            </a:r>
            <a:r>
              <a:rPr lang="es-MX" i="1" noProof="0" dirty="0" err="1">
                <a:solidFill>
                  <a:schemeClr val="bg1">
                    <a:lumMod val="50000"/>
                  </a:schemeClr>
                </a:solidFill>
              </a:rPr>
              <a:t>Ischnura</a:t>
            </a:r>
            <a:r>
              <a:rPr lang="es-MX" i="1" noProof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MX" noProof="0" dirty="0">
                <a:solidFill>
                  <a:schemeClr val="bg1">
                    <a:lumMod val="50000"/>
                  </a:schemeClr>
                </a:solidFill>
              </a:rPr>
              <a:t>mediante análisis filogenéticos.</a:t>
            </a:r>
          </a:p>
          <a:p>
            <a:r>
              <a:rPr lang="es-MX" dirty="0"/>
              <a:t>Inferir si los estados de los polimorfismos de color representan </a:t>
            </a:r>
            <a:r>
              <a:rPr lang="es-MX" dirty="0" err="1"/>
              <a:t>sinapomorfías</a:t>
            </a:r>
            <a:r>
              <a:rPr lang="es-MX" dirty="0"/>
              <a:t> en </a:t>
            </a:r>
            <a:r>
              <a:rPr lang="es-MX" dirty="0" err="1"/>
              <a:t>clados</a:t>
            </a:r>
            <a:r>
              <a:rPr lang="es-MX" dirty="0"/>
              <a:t> del género </a:t>
            </a:r>
            <a:r>
              <a:rPr lang="es-MX" i="1" dirty="0" err="1"/>
              <a:t>Ischnura</a:t>
            </a:r>
            <a:r>
              <a:rPr lang="es-MX" i="1" dirty="0"/>
              <a:t> </a:t>
            </a:r>
            <a:r>
              <a:rPr lang="es-MX" dirty="0"/>
              <a:t>o eventos evolutivos independientes (</a:t>
            </a:r>
            <a:r>
              <a:rPr lang="es-MX" dirty="0" err="1"/>
              <a:t>homoplasias</a:t>
            </a:r>
            <a:r>
              <a:rPr lang="es-MX" dirty="0"/>
              <a:t>).</a:t>
            </a:r>
          </a:p>
          <a:p>
            <a:r>
              <a:rPr lang="es-MX" noProof="0" dirty="0">
                <a:solidFill>
                  <a:schemeClr val="bg1"/>
                </a:solidFill>
              </a:rPr>
              <a:t>Inferir el estado de los polimorfismos de color en el ancestro común del género.</a:t>
            </a:r>
          </a:p>
        </p:txBody>
      </p:sp>
    </p:spTree>
    <p:extLst>
      <p:ext uri="{BB962C8B-B14F-4D97-AF65-F5344CB8AC3E}">
        <p14:creationId xmlns:p14="http://schemas.microsoft.com/office/powerpoint/2010/main" val="39929325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EC0FB-1882-195C-7658-F0429A1C1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76D2743-0FC9-649C-248C-31A211A6024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noProof="0" dirty="0"/>
              <a:t>¿Cuál ha sido la historia evolutiva de los polimorfismos de color en </a:t>
            </a:r>
            <a:r>
              <a:rPr lang="es-MX" i="1" noProof="0" dirty="0" err="1"/>
              <a:t>Ischnura</a:t>
            </a:r>
            <a:r>
              <a:rPr lang="es-MX" noProof="0" dirty="0"/>
              <a:t>?</a:t>
            </a:r>
          </a:p>
        </p:txBody>
      </p:sp>
      <p:pic>
        <p:nvPicPr>
          <p:cNvPr id="4" name="Picture 3" descr="Phylogenetic - Free education icons">
            <a:extLst>
              <a:ext uri="{FF2B5EF4-FFF2-40B4-BE49-F238E27FC236}">
                <a16:creationId xmlns:a16="http://schemas.microsoft.com/office/drawing/2014/main" id="{3CB894B1-2A1C-D6D8-C60C-2CEA4D885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503" y="1897165"/>
            <a:ext cx="4385647" cy="4385647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82954DD-884C-56D0-63D6-A819BDE632C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MX" noProof="0" dirty="0">
                <a:solidFill>
                  <a:schemeClr val="bg1">
                    <a:lumMod val="50000"/>
                  </a:schemeClr>
                </a:solidFill>
              </a:rPr>
              <a:t>Reconstruir la diversificación del género </a:t>
            </a:r>
            <a:r>
              <a:rPr lang="es-MX" i="1" noProof="0" dirty="0" err="1">
                <a:solidFill>
                  <a:schemeClr val="bg1">
                    <a:lumMod val="50000"/>
                  </a:schemeClr>
                </a:solidFill>
              </a:rPr>
              <a:t>Ischnura</a:t>
            </a:r>
            <a:r>
              <a:rPr lang="es-MX" i="1" noProof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MX" noProof="0" dirty="0">
                <a:solidFill>
                  <a:schemeClr val="bg1">
                    <a:lumMod val="50000"/>
                  </a:schemeClr>
                </a:solidFill>
              </a:rPr>
              <a:t>mediante análisis filogenéticos.</a:t>
            </a:r>
          </a:p>
          <a:p>
            <a:r>
              <a:rPr lang="es-MX" dirty="0">
                <a:solidFill>
                  <a:schemeClr val="bg1">
                    <a:lumMod val="50000"/>
                  </a:schemeClr>
                </a:solidFill>
              </a:rPr>
              <a:t>Inferir si los estados de los polimorfismos de color representan </a:t>
            </a:r>
            <a:r>
              <a:rPr lang="es-MX" dirty="0" err="1">
                <a:solidFill>
                  <a:schemeClr val="bg1">
                    <a:lumMod val="50000"/>
                  </a:schemeClr>
                </a:solidFill>
              </a:rPr>
              <a:t>sinapomorfías</a:t>
            </a:r>
            <a:r>
              <a:rPr lang="es-MX" dirty="0">
                <a:solidFill>
                  <a:schemeClr val="bg1">
                    <a:lumMod val="50000"/>
                  </a:schemeClr>
                </a:solidFill>
              </a:rPr>
              <a:t> en </a:t>
            </a:r>
            <a:r>
              <a:rPr lang="es-MX" dirty="0" err="1">
                <a:solidFill>
                  <a:schemeClr val="bg1">
                    <a:lumMod val="50000"/>
                  </a:schemeClr>
                </a:solidFill>
              </a:rPr>
              <a:t>clados</a:t>
            </a:r>
            <a:r>
              <a:rPr lang="es-MX" dirty="0">
                <a:solidFill>
                  <a:schemeClr val="bg1">
                    <a:lumMod val="50000"/>
                  </a:schemeClr>
                </a:solidFill>
              </a:rPr>
              <a:t> del género </a:t>
            </a:r>
            <a:r>
              <a:rPr lang="es-MX" i="1" dirty="0" err="1">
                <a:solidFill>
                  <a:schemeClr val="bg1">
                    <a:lumMod val="50000"/>
                  </a:schemeClr>
                </a:solidFill>
              </a:rPr>
              <a:t>Ischnura</a:t>
            </a:r>
            <a:r>
              <a:rPr lang="es-MX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MX" dirty="0">
                <a:solidFill>
                  <a:schemeClr val="bg1">
                    <a:lumMod val="50000"/>
                  </a:schemeClr>
                </a:solidFill>
              </a:rPr>
              <a:t>o eventos evolutivos independientes (</a:t>
            </a:r>
            <a:r>
              <a:rPr lang="es-MX" dirty="0" err="1">
                <a:solidFill>
                  <a:schemeClr val="bg1">
                    <a:lumMod val="50000"/>
                  </a:schemeClr>
                </a:solidFill>
              </a:rPr>
              <a:t>homoplasias</a:t>
            </a:r>
            <a:r>
              <a:rPr lang="es-MX" dirty="0">
                <a:solidFill>
                  <a:schemeClr val="bg1">
                    <a:lumMod val="50000"/>
                  </a:schemeClr>
                </a:solidFill>
              </a:rPr>
              <a:t>).</a:t>
            </a:r>
          </a:p>
          <a:p>
            <a:r>
              <a:rPr lang="es-MX" noProof="0" dirty="0"/>
              <a:t>Inferir el estado de los polimorfismos de color en el ancestro común del género.</a:t>
            </a:r>
          </a:p>
        </p:txBody>
      </p:sp>
    </p:spTree>
    <p:extLst>
      <p:ext uri="{BB962C8B-B14F-4D97-AF65-F5344CB8AC3E}">
        <p14:creationId xmlns:p14="http://schemas.microsoft.com/office/powerpoint/2010/main" val="34649014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24B4DEF7182A943AD45A3CE46D4FF48" ma:contentTypeVersion="10" ma:contentTypeDescription="Create a new document." ma:contentTypeScope="" ma:versionID="28f8db1a218dd9356822e87126613a1c">
  <xsd:schema xmlns:xsd="http://www.w3.org/2001/XMLSchema" xmlns:xs="http://www.w3.org/2001/XMLSchema" xmlns:p="http://schemas.microsoft.com/office/2006/metadata/properties" xmlns:ns3="3ab1d412-21be-43e5-a930-27f9a41c60e7" targetNamespace="http://schemas.microsoft.com/office/2006/metadata/properties" ma:root="true" ma:fieldsID="2ef465dfadcc4e0650212a891737bf70" ns3:_="">
    <xsd:import namespace="3ab1d412-21be-43e5-a930-27f9a41c60e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SearchPropertie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b1d412-21be-43e5-a930-27f9a41c60e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ab1d412-21be-43e5-a930-27f9a41c60e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0A35592-1345-471F-AFC1-C6DC2BAABA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ab1d412-21be-43e5-a930-27f9a41c60e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A66446F-B38E-4B8B-8049-3A32E80E12EC}">
  <ds:schemaRefs>
    <ds:schemaRef ds:uri="http://schemas.microsoft.com/office/infopath/2007/PartnerControls"/>
    <ds:schemaRef ds:uri="http://www.w3.org/XML/1998/namespace"/>
    <ds:schemaRef ds:uri="http://purl.org/dc/dcmitype/"/>
    <ds:schemaRef ds:uri="http://purl.org/dc/elements/1.1/"/>
    <ds:schemaRef ds:uri="3ab1d412-21be-43e5-a930-27f9a41c60e7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8F04384F-FD5F-4234-8F0B-9F9338C1060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682</TotalTime>
  <Words>335</Words>
  <Application>Microsoft Office PowerPoint</Application>
  <PresentationFormat>Widescreen</PresentationFormat>
  <Paragraphs>32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La historia evolutiva de los polimorfismos de color femeninos en caballitos del género Ischnura .</vt:lpstr>
      <vt:lpstr>El estudio de los polimorfismos de color ha sido un fenómeno clave para el desarrollo de la teoría evolutiva</vt:lpstr>
      <vt:lpstr>El estudio de los polimorfismos de color ha sido un fenómeno clave para el desarrollo de la teoría evolutiva</vt:lpstr>
      <vt:lpstr>Los polimorfismos de color femeninos en Ischnura han evolucionado en respuesta al acoso masculino</vt:lpstr>
      <vt:lpstr>El género Ischnura incluye especies monomórficas, dimórficas y trimórficas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Rodrigo Arce Valdes</dc:creator>
  <cp:lastModifiedBy>Luis Rodrigo Arce Valdes</cp:lastModifiedBy>
  <cp:revision>10</cp:revision>
  <dcterms:created xsi:type="dcterms:W3CDTF">2025-10-27T14:47:41Z</dcterms:created>
  <dcterms:modified xsi:type="dcterms:W3CDTF">2026-09-10T16:51:33Z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0x010100924B4DEF7182A943AD45A3CE46D4FF48</vt:lpwstr>
  </property>
</Properties>
</file>